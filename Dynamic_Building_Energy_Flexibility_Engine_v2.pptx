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22" d="100"/>
          <a:sy n="22" d="100"/>
        </p:scale>
        <p:origin x="72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0926" y="174624"/>
            <a:ext cx="13990874" cy="838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Dynamic Building Energy Flexibility Engine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10926" y="1325426"/>
            <a:ext cx="1725930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Bridging the gap between static building automation and real-time smart grid demand-response requirements through adaptive software.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4638" y="2668451"/>
            <a:ext cx="11385233" cy="3909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Agenda Topics: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Real-Time Building Energy Blind Spot 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Real-World College &amp; Office Scenarios 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End-to-End 8-Stage System Architecture 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Transparent Physics &amp; Thermodynamic Modeling 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Live Streamlit Simulation &amp; Dashboard Demonstration 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Multi-Stakeholder Impact &amp; Scalable Retrofit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92220" y="2040969"/>
            <a:ext cx="9495780" cy="6142613"/>
          </a:xfrm>
          <a:custGeom>
            <a:avLst/>
            <a:gdLst/>
            <a:ahLst/>
            <a:cxnLst/>
            <a:rect l="l" t="t" r="r" b="b"/>
            <a:pathLst>
              <a:path w="9495780" h="6142613">
                <a:moveTo>
                  <a:pt x="0" y="0"/>
                </a:moveTo>
                <a:lnTo>
                  <a:pt x="9495780" y="0"/>
                </a:lnTo>
                <a:lnTo>
                  <a:pt x="9495780" y="6142613"/>
                </a:lnTo>
                <a:lnTo>
                  <a:pt x="0" y="6142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13068" y="226599"/>
            <a:ext cx="6597332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Building Energy Blind Spot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57675" y="969953"/>
            <a:ext cx="18030325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Real-Time Visibility Gap:</a:t>
            </a:r>
            <a:r>
              <a:rPr lang="en-US" sz="24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Buildings can measure total electricity use at any second, but often lack a lightweight, adaptive way to estimate how much load can be safely reduced, for how long, and with what comfort and rebound impact.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7675" y="2497128"/>
            <a:ext cx="8534545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Fallacy of Static Rules: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Current utility demand-response frameworks rely on rigid, brute-force measures, such as mandatory blind percentage reductions across entire facilities.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7675" y="4462453"/>
            <a:ext cx="8412804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Severe Operational Consequences: </a:t>
            </a:r>
            <a:r>
              <a:rPr lang="en-US" sz="24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Static reduction rules routinely trigger tenant discomfort complaints, unexpected equipment tripping, and severe secondary power surges (rebound spikes) during recovery.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7675" y="6865928"/>
            <a:ext cx="8534545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Technical Imperative: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 is an urgent need for an adaptive software architecture that calculates actionable, real-time flexibility envelopes under continuous environmental and operational constraints.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09" y="5143500"/>
            <a:ext cx="18283391" cy="5143500"/>
          </a:xfrm>
          <a:custGeom>
            <a:avLst/>
            <a:gdLst/>
            <a:ahLst/>
            <a:cxnLst/>
            <a:rect l="l" t="t" r="r" b="b"/>
            <a:pathLst>
              <a:path w="18283391" h="5143500">
                <a:moveTo>
                  <a:pt x="0" y="0"/>
                </a:moveTo>
                <a:lnTo>
                  <a:pt x="18283391" y="0"/>
                </a:lnTo>
                <a:lnTo>
                  <a:pt x="18283391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155" b="-709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14376" y="285750"/>
            <a:ext cx="11601424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Real-World Scenario — The College Building Demand Event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4731" y="981075"/>
            <a:ext cx="17318538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1:30 PM — Baseline State: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multi-story college building operates at 70% occupancy with high outdoor ambient temperatures; standard classes and active laboratory operations are underway.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5513" y="2060575"/>
            <a:ext cx="17376973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2:00 PM — Peak Occupancy Shift: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major afternoon lecture begins, pushing building occupancy up to 95% and significantly driving up internal thermal heat loads. 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2:20 PM — The Grid Emergency Signal: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utility grid operator issues an urgent demand-response command: "Reduce 40 kW for the next 20 minutes."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55513" y="4016375"/>
            <a:ext cx="1725930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Core Engineering Dilemma: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blind 10% reduction cuts power haphazardly across active lecture halls or critical research infrastructure, causing immediate administrative complaints or equipment shutdowns.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18610" y="4218149"/>
            <a:ext cx="6969390" cy="6068851"/>
          </a:xfrm>
          <a:custGeom>
            <a:avLst/>
            <a:gdLst/>
            <a:ahLst/>
            <a:cxnLst/>
            <a:rect l="l" t="t" r="r" b="b"/>
            <a:pathLst>
              <a:path w="6969390" h="6068851">
                <a:moveTo>
                  <a:pt x="0" y="0"/>
                </a:moveTo>
                <a:lnTo>
                  <a:pt x="6969390" y="0"/>
                </a:lnTo>
                <a:lnTo>
                  <a:pt x="6969390" y="6068851"/>
                </a:lnTo>
                <a:lnTo>
                  <a:pt x="0" y="60688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5745" y="311449"/>
            <a:ext cx="319516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Industry Gap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5745" y="971550"/>
            <a:ext cx="6428455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Traditional BMS Dashboards: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428750"/>
            <a:ext cx="16062182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3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they do: </a:t>
            </a: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Monitor mechanical equipment states, historical energy consumption trends, and environmental sensor metrics.</a:t>
            </a:r>
            <a:r>
              <a:rPr lang="en-US" sz="2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  <a:p>
            <a:pPr marL="539753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Gap: </a:t>
            </a: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They monitor equipment and support rule-based control, but are not designed to estimate request-specific flexibility from live building state.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1110" y="3317875"/>
            <a:ext cx="6124489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Rigid Occupancy Schedules: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975100"/>
            <a:ext cx="10289910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3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they do:</a:t>
            </a: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Pre-program lighting and HVAC timers based on expected calendar hours and standard working days. </a:t>
            </a:r>
          </a:p>
          <a:p>
            <a:pPr marL="539753" lvl="1" indent="-269876" algn="l">
              <a:lnSpc>
                <a:spcPts val="350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they fail: </a:t>
            </a: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They are entirely blind to sudden weather spikes, unpredictable occupancy changes (such as unexpected events or empty rooms), or real-time grid emergency requests.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5745" y="6302374"/>
            <a:ext cx="8638255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Practical Research &amp; Engineering Gap: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969124"/>
            <a:ext cx="10137465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key gap is request-specific flexibility estimation: a lightweight, low-sensing layer that maps live building thermodynamics to a feasible reduction, safe duration, and comfort/rebound risk for a given DR request.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420099"/>
            <a:ext cx="10137465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Many alternatives require costly hardware upgrades or rely on opaque ML models that are hard to validate against comfort constraints.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85925" y="1993743"/>
            <a:ext cx="15632088" cy="6299515"/>
          </a:xfrm>
          <a:custGeom>
            <a:avLst/>
            <a:gdLst/>
            <a:ahLst/>
            <a:cxnLst/>
            <a:rect l="l" t="t" r="r" b="b"/>
            <a:pathLst>
              <a:path w="15632088" h="6299515">
                <a:moveTo>
                  <a:pt x="0" y="0"/>
                </a:moveTo>
                <a:lnTo>
                  <a:pt x="15632088" y="0"/>
                </a:lnTo>
                <a:lnTo>
                  <a:pt x="15632088" y="6299514"/>
                </a:lnTo>
                <a:lnTo>
                  <a:pt x="0" y="62995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79" t="-1969" r="-2381" b="-4268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9203" y="333051"/>
            <a:ext cx="9921597" cy="503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Solution — The End-to-End Engine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350" y="981075"/>
            <a:ext cx="16975238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Software Layer: </a:t>
            </a:r>
            <a:r>
              <a:rPr lang="en-US" sz="24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Sits above existing infrastructure to compute flexibility envelopes.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Prototype Focus: </a:t>
            </a:r>
            <a:r>
              <a:rPr lang="en-US" sz="24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HVAC/thermal flexibility; lighting, EV and other loads are future extensions.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2319" y="8426607"/>
            <a:ext cx="17259300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Pipeline Description: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engine continuously senses environmental parameters, predicts thermodynamic changes, runs candidate control actions through strict safety filters, outputs an optimized plan, and learns from actual responses.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350324" y="2798498"/>
            <a:ext cx="11937676" cy="5329750"/>
          </a:xfrm>
          <a:custGeom>
            <a:avLst/>
            <a:gdLst/>
            <a:ahLst/>
            <a:cxnLst/>
            <a:rect l="l" t="t" r="r" b="b"/>
            <a:pathLst>
              <a:path w="11937676" h="5329750">
                <a:moveTo>
                  <a:pt x="0" y="0"/>
                </a:moveTo>
                <a:lnTo>
                  <a:pt x="11937676" y="0"/>
                </a:lnTo>
                <a:lnTo>
                  <a:pt x="11937676" y="5329751"/>
                </a:lnTo>
                <a:lnTo>
                  <a:pt x="0" y="5329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90188" y="211311"/>
            <a:ext cx="5712138" cy="503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Step-by-Step User Journey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350" y="981075"/>
            <a:ext cx="1777365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1 — Event Ingestion: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facility manager or an automated grid signal inputs a target kW reduction and duration requirement.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4350" y="1938073"/>
            <a:ext cx="1725930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2 — State Assessment: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engine queries live sensor feeds, current outdoor weather profiles, and building occupancy numbers.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4350" y="2893748"/>
            <a:ext cx="5712138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3 — Constraint Enforcement: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Safety filters lock in strict indoor temperature comfort bands and protect essential laboratory or server loads.</a:t>
            </a: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4350" y="5602023"/>
            <a:ext cx="5712138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4 — Optimized Recommendation: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Target: 40 kW for 20 min → Feasible / Not Feasible → Maximum Safe Reduction → Safe Duration → Comfort Risk → Rebound Risk → Confidence.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4350" y="9150000"/>
            <a:ext cx="1777365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 5 — Execution &amp; Verification: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command is executed, performance is verified against predictions, and post-event power rebound is tracked.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13445" y="1983531"/>
            <a:ext cx="8544940" cy="7051578"/>
          </a:xfrm>
          <a:custGeom>
            <a:avLst/>
            <a:gdLst/>
            <a:ahLst/>
            <a:cxnLst/>
            <a:rect l="l" t="t" r="r" b="b"/>
            <a:pathLst>
              <a:path w="8544940" h="7051578">
                <a:moveTo>
                  <a:pt x="0" y="0"/>
                </a:moveTo>
                <a:lnTo>
                  <a:pt x="8544940" y="0"/>
                </a:lnTo>
                <a:lnTo>
                  <a:pt x="8544940" y="7051578"/>
                </a:lnTo>
                <a:lnTo>
                  <a:pt x="0" y="70515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474" t="-2589" r="-14722" b="-258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47632" y="372319"/>
            <a:ext cx="4252967" cy="503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Technical Approach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7633" y="981075"/>
            <a:ext cx="1725930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Avoiding Opaque AI: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 interpretable thermal model (not a black box) predicts indoor temperature and energy response under different HVAC actions, with no long training history.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4058" y="9130359"/>
            <a:ext cx="1725930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Thermodynamic Rigor: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model tracks heat transfer coefficients, thermal mass, internal gains, and HVAC cooling output, and checks each action against comfort limits before recommending it.</a:t>
            </a: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9846" y="331739"/>
            <a:ext cx="847415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Live Software Simulation &amp; Dashboard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20871" y="2065581"/>
            <a:ext cx="11367129" cy="6155838"/>
          </a:xfrm>
          <a:custGeom>
            <a:avLst/>
            <a:gdLst/>
            <a:ahLst/>
            <a:cxnLst/>
            <a:rect l="l" t="t" r="r" b="b"/>
            <a:pathLst>
              <a:path w="11367129" h="6155838">
                <a:moveTo>
                  <a:pt x="0" y="0"/>
                </a:moveTo>
                <a:lnTo>
                  <a:pt x="11367129" y="0"/>
                </a:lnTo>
                <a:lnTo>
                  <a:pt x="11367129" y="6155838"/>
                </a:lnTo>
                <a:lnTo>
                  <a:pt x="0" y="61558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2132" y="191021"/>
            <a:ext cx="7346467" cy="5118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Core Innovation &amp; Key Differentiators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6669" y="931451"/>
            <a:ext cx="17259300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Flexibility Envelope (Core):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engine simulates different reduction levels and durations under live weather and occupancy, rejects comfort-violating actions, and reports the safe flexibility range.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6669" y="2137363"/>
            <a:ext cx="5896828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Explicit Rebound Awareness: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Rebound is quantified as post-event recovery demand relative to the normal baseline (P_recovery − P_baseline), limiting secondary peaks.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86669" y="5095875"/>
            <a:ext cx="5896828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Retrofit-Oriented Architecture: 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Designed from the ground up to integrate cleanly with existing smart meters, IoT gateways, and building management systems without requiring costly hardware overhauls.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2133" y="8450019"/>
            <a:ext cx="17643836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just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Localized Edge Privacy &amp; Security: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Processes sensitive occupancy and sensor telemetry locally on lightweight edge nodes, ensuring tenant privacy and eliminating vulnerabilities associated with cloud-only data centralization.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89098" y="2563197"/>
            <a:ext cx="6898902" cy="6107062"/>
          </a:xfrm>
          <a:custGeom>
            <a:avLst/>
            <a:gdLst/>
            <a:ahLst/>
            <a:cxnLst/>
            <a:rect l="l" t="t" r="r" b="b"/>
            <a:pathLst>
              <a:path w="6898902" h="6107062">
                <a:moveTo>
                  <a:pt x="0" y="0"/>
                </a:moveTo>
                <a:lnTo>
                  <a:pt x="6898902" y="0"/>
                </a:lnTo>
                <a:lnTo>
                  <a:pt x="6898902" y="6107062"/>
                </a:lnTo>
                <a:lnTo>
                  <a:pt x="0" y="6107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2565" y="304800"/>
            <a:ext cx="356889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Quantified Impact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981075"/>
            <a:ext cx="490549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For Grid Utilities &amp; Operators: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0435" y="1567420"/>
            <a:ext cx="17177565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predictable, localized, and dispatchable demand-response capacity on demand. 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Effectively prevents localized brownouts, voltage sags, and catastrophic blackouts during extreme grid stress and peak summer/winter load hours.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0435" y="2818370"/>
            <a:ext cx="10143146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Lowers the economic necessity for utilities to spin up expensive, carbon-heavy peaker power plants.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3774046"/>
            <a:ext cx="5814417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For Facility &amp; Campus Managers: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4434" y="4291570"/>
            <a:ext cx="10069148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Evaluation metrics: peak reduction, comfort violations, rebound, and prediction error. 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Eliminates the operational guesswork and anxiety of manual, emergency energy shedding. 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automated compliance reporting for green building and corporate sustainability mandates.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999846"/>
            <a:ext cx="6286500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For Building Occupants &amp; Students: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4434" y="7517370"/>
            <a:ext cx="10069148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Maintains operation within the defined comfort band through continuous constraint monitoring.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4434" y="8911195"/>
            <a:ext cx="15051286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Prevents sudden, jarring office climate shifts or lab disruptions during peak curtailment events.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8811" y="514350"/>
            <a:ext cx="655951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Deployment &amp; Scalability Roadmap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6369" y="514350"/>
            <a:ext cx="9629656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54545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Prototype Execution, Team Ownership &amp; 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1046</Words>
  <Application>Microsoft Office PowerPoint</Application>
  <PresentationFormat>Custom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Canva Sans</vt:lpstr>
      <vt:lpstr>Arial</vt:lpstr>
      <vt:lpstr>Canva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Building Energy Flexibility Engine</dc:title>
  <cp:lastModifiedBy>kuchinandu15@outlook.com</cp:lastModifiedBy>
  <cp:revision>2</cp:revision>
  <dcterms:created xsi:type="dcterms:W3CDTF">2006-08-16T00:00:00Z</dcterms:created>
  <dcterms:modified xsi:type="dcterms:W3CDTF">2026-10-04T13:18:29Z</dcterms:modified>
  <dc:identifier>DAHW-dVyjIk</dc:identifier>
</cp:coreProperties>
</file>